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4864" cy="34747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简易购物网站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2BEC3"/>
                </a:solidFill>
                <a:latin typeface="Microsoft YaHei"/>
              </a:defRPr>
            </a:pPr>
            <a:r>
              <a:t>ShoppingWeb — 基于 Servlet + JSP + MySQL 的电子商务平台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383280"/>
            <a:ext cx="274320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DFE6E9"/>
                </a:solidFill>
                <a:latin typeface="Microsoft YaHei"/>
              </a:defRPr>
            </a:pPr>
            <a:r>
              <a:t>Java Web 期末课程设计答辩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636E72"/>
                </a:solidFill>
                <a:latin typeface="Microsoft YaHei"/>
              </a:defRPr>
            </a:pPr>
            <a:r>
              <a:t>答辩日期：2026年06月09日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技术栈：Java 8 + Servlet 4.0 + JSP 2.3 + MySQL 8.0 + Maven + Tomcat 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FE6E9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1371600"/>
            <a:ext cx="457200" cy="45720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642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项目选题背景、目标用户与核心需求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2057400"/>
            <a:ext cx="457200" cy="45720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756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技术架构与开发环境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500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技术选型、系统架构、开发工具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2743200"/>
            <a:ext cx="457200" cy="45720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61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0358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ER 图、表结构设计、关系说明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3429000"/>
            <a:ext cx="457200" cy="45720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447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功能模块详解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216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用户端 + 管理端核心功能流程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4114800"/>
            <a:ext cx="457200" cy="45720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133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核心代码展示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4074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关键代码逻辑与实现亮点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4800600"/>
            <a:ext cx="457200" cy="45720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界面展示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0932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前端页面效果截图展示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5486400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5046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77900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收获、不足、改进方向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FE6E9"/>
                </a:solidFill>
                <a:latin typeface="Microsoft YaHei"/>
              </a:defRPr>
            </a:pPr>
            <a:r>
              <a:t>BACKGROUND &amp;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84E3"/>
                </a:solidFill>
                <a:latin typeface="Microsoft YaHei"/>
              </a:defRPr>
            </a:pPr>
            <a:r>
              <a:t>📋 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● 电子商务持续高速发展，网上购物已成为主流消费方式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● Java Web 技术在企业级开发中广泛应用，是计算机专业核心课程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● 通过实际项目锻炼 Servlet、JSP、JDBC 等技术的综合运用能力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● 加深对 MVC 分层架构和前后端协作的理解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● 积累完整的项目开发流程经验：需求→设计→编码→测试→部署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5CE7"/>
                </a:solidFill>
                <a:latin typeface="Microsoft YaHei"/>
              </a:defRPr>
            </a:pPr>
            <a:r>
              <a:t>🎯 核心功能需求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D3436"/>
                </a:solidFill>
                <a:latin typeface="Microsoft YaHei"/>
              </a:defRPr>
            </a:pPr>
            <a:r>
              <a:t>👤 用户端功能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用户注册与登录（MD5 加密）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商品浏览（分页 + 分类筛选 + 关键词搜索）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商品详情查看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购物车管理（添加 / 修改数量 / 删除）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订单结算（事务控制：扣库存 + 清空购物车）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订单查看与详情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D3436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2D3436"/>
                </a:solidFill>
                <a:latin typeface="Microsoft YaHei"/>
              </a:defRPr>
            </a:pPr>
            <a:r>
              <a:t>🛠️ 管理端功能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商品管理（增删改查 CRUD）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3436"/>
                </a:solidFill>
                <a:latin typeface="Microsoft YaHei"/>
              </a:defRPr>
            </a:pPr>
            <a:r>
              <a:t>  • 订单管理（查看所有订单 + 修改订单状态）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技术架构与开发环境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FE6E9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84E3"/>
                </a:solidFill>
                <a:latin typeface="Microsoft YaHei"/>
              </a:defRPr>
            </a:pPr>
            <a:r>
              <a:t>🛠️ 技术栈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技术/工具</a:t>
                      </a:r>
                    </a:p>
                  </a:txBody>
                  <a:tcPr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984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Java 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后端开发语言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Servlet 4.0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Web 控制器，处理 HTTP 请求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JSP 2.3 + JSTL 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视图层模板引擎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MySQL 8.0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关系型数据库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JDBC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数据库连接与操作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Maven 3.x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项目构建与依赖管理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Tomcat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Web 应用容器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HTML5 + CSS3 + JS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436"/>
                          </a:solidFill>
                          <a:latin typeface="Microsoft YaHei"/>
                        </a:defRPr>
                      </a:pPr>
                      <a:r>
                        <a:t>前端页面与交互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5CE7"/>
                </a:solidFill>
                <a:latin typeface="Microsoft YaHei"/>
              </a:defRPr>
            </a:pPr>
            <a:r>
              <a:t>🏗️ 分层架构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20240"/>
            <a:ext cx="4754880" cy="91440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933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表示层 (View)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6771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FE6E9"/>
                </a:solidFill>
                <a:latin typeface="Microsoft YaHei"/>
              </a:defRPr>
            </a:pPr>
            <a:r>
              <a:t>JSP 页面 + CSS + JavaScript</a:t>
            </a:r>
            <a:br/>
            <a:r>
              <a:t>JSTL 标签库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686800" y="2834640"/>
            <a:ext cx="365760" cy="182880"/>
          </a:xfrm>
          <a:prstGeom prst="down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017520"/>
            <a:ext cx="4754880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控制层 (Controller)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649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FE6E9"/>
                </a:solidFill>
                <a:latin typeface="Microsoft YaHei"/>
              </a:defRPr>
            </a:pPr>
            <a:r>
              <a:t>Servlet 控制器</a:t>
            </a:r>
            <a:br/>
            <a:r>
              <a:t>处理请求、验证、转发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86800" y="3931920"/>
            <a:ext cx="365760" cy="182880"/>
          </a:xfrm>
          <a:prstGeom prst="down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4114800"/>
            <a:ext cx="4754880" cy="914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1879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业务逻辑层 (DAO)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622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FE6E9"/>
                </a:solidFill>
                <a:latin typeface="Microsoft YaHei"/>
              </a:defRPr>
            </a:pPr>
            <a:r>
              <a:t>数据访问对象</a:t>
            </a:r>
            <a:br/>
            <a:r>
              <a:t>封装数据库 CRUD 操作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686800" y="5029200"/>
            <a:ext cx="365760" cy="182880"/>
          </a:xfrm>
          <a:prstGeom prst="down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5212080"/>
            <a:ext cx="4754880" cy="914400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52852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数据层 (Database)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5595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FE6E9"/>
                </a:solidFill>
                <a:latin typeface="Microsoft YaHei"/>
              </a:defRPr>
            </a:pPr>
            <a:r>
              <a:t>MySQL 数据库</a:t>
            </a:r>
            <a:br/>
            <a:r>
              <a:t>6 张数据表 + 外键约束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FE6E9"/>
                </a:solidFill>
                <a:latin typeface="Microsoft YaHe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84E3"/>
                </a:solidFill>
                <a:latin typeface="Microsoft YaHei"/>
              </a:defRPr>
            </a:pPr>
            <a:r>
              <a:t>📊 数据库关系模型（6 张核心表）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20440" cy="54864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984E3"/>
                </a:solidFill>
                <a:latin typeface="Microsoft YaHei"/>
              </a:defRPr>
            </a:pPr>
            <a:r>
              <a:t>users 用户表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• id (PK, AUTO_INCREMENT)</a:t>
            </a:r>
            <a:br/>
            <a:r>
              <a:t>• username (UNIQUE, NOT NULL)</a:t>
            </a:r>
            <a:br/>
            <a:r>
              <a:t>• password (MD5加密存储)</a:t>
            </a:r>
            <a:br/>
            <a:r>
              <a:t>• email / phone / address</a:t>
            </a:r>
            <a:br/>
            <a:r>
              <a:t>• role (user / admin)</a:t>
            </a:r>
            <a:br/>
            <a:r>
              <a:t>• create_time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2880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52044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E7"/>
                </a:solidFill>
                <a:latin typeface="Microsoft YaHei"/>
              </a:defRPr>
            </a:pPr>
            <a:r>
              <a:t>categories 分类表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• id (PK, AUTO_INCREMENT)</a:t>
            </a:r>
            <a:br/>
            <a:r>
              <a:t>• name (分类名称)</a:t>
            </a:r>
            <a:br/>
            <a:r>
              <a:t>• sort (排序序号)</a:t>
            </a:r>
            <a:br/>
            <a:r>
              <a:t>• 5个预设分类：电子、服装、</a:t>
            </a:r>
            <a:br/>
            <a:r>
              <a:t>图书、家居、零食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5204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products 商品表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• id (PK, AUTO_INCREMENT)</a:t>
            </a:r>
            <a:br/>
            <a:r>
              <a:t>• name / description</a:t>
            </a:r>
            <a:br/>
            <a:r>
              <a:t>• price (DECIMAL 10,2)</a:t>
            </a:r>
            <a:br/>
            <a:r>
              <a:t>• stock (库存数量)</a:t>
            </a:r>
            <a:br/>
            <a:r>
              <a:t>• category_id (FK → categories)</a:t>
            </a:r>
            <a:br/>
            <a:r>
              <a:t>• image / create_time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3520440" cy="54864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17055"/>
                </a:solidFill>
                <a:latin typeface="Microsoft YaHei"/>
              </a:defRPr>
            </a:pPr>
            <a:r>
              <a:t>cart_items 购物车表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• id (PK, AUTO_INCREMENT)</a:t>
            </a:r>
            <a:br/>
            <a:r>
              <a:t>• user_id (FK → users)</a:t>
            </a:r>
            <a:br/>
            <a:r>
              <a:t>• product_id (FK → products)</a:t>
            </a:r>
            <a:br/>
            <a:r>
              <a:t>• quantity (数量)</a:t>
            </a:r>
            <a:br/>
            <a:r>
              <a:t>• add_time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20624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4206240"/>
            <a:ext cx="352044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Microsoft YaHei"/>
              </a:defRPr>
            </a:pPr>
            <a:r>
              <a:t>orders 订单表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091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• id (PK, AUTO_INCREMENT)</a:t>
            </a:r>
            <a:br/>
            <a:r>
              <a:t>• order_no (UNIQUE 订单编号)</a:t>
            </a:r>
            <a:br/>
            <a:r>
              <a:t>• user_id (FK → users)</a:t>
            </a:r>
            <a:br/>
            <a:r>
              <a:t>• total_price</a:t>
            </a:r>
            <a:br/>
            <a:r>
              <a:t>• status (pending/paid/shipped/</a:t>
            </a:r>
            <a:br/>
            <a:r>
              <a:t>completed/canceled)</a:t>
            </a:r>
            <a:br/>
            <a:r>
              <a:t>• address / create_time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20624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206240"/>
            <a:ext cx="3520440" cy="54864"/>
          </a:xfrm>
          <a:prstGeom prst="rect">
            <a:avLst/>
          </a:prstGeom>
          <a:solidFill>
            <a:srgbClr val="FD7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D7989"/>
                </a:solidFill>
                <a:latin typeface="Microsoft YaHei"/>
              </a:defRPr>
            </a:pPr>
            <a:r>
              <a:t>order_items 订单明细表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7091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• id (PK, AUTO_INCREMENT)</a:t>
            </a:r>
            <a:br/>
            <a:r>
              <a:t>• order_id (FK → orders)</a:t>
            </a:r>
            <a:br/>
            <a:r>
              <a:t>• product_id (FK → products)</a:t>
            </a:r>
            <a:br/>
            <a:r>
              <a:t>• product_name (快照)</a:t>
            </a:r>
            <a:br/>
            <a:r>
              <a:t>• product_price (下单时价格)</a:t>
            </a:r>
            <a:br/>
            <a:r>
              <a:t>• quantity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💡 设计亮点：密码 MD5 加密 | 订单商品名称快照（防止商品修改后历史订单数据变化）| 外键约束保证数据完整性 | 事务保证下单原子性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功能模块详解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FE6E9"/>
                </a:solidFill>
                <a:latin typeface="Microsoft YaHei"/>
              </a:defRPr>
            </a:pPr>
            <a:r>
              <a:t>FUNCTIONAL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84E3"/>
                </a:solidFill>
                <a:latin typeface="Microsoft YaHei"/>
              </a:defRPr>
            </a:pPr>
            <a:r>
              <a:t>👤 用户端核心流程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365760" cy="36576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Microsoft YaHei"/>
              </a:defRPr>
            </a:pPr>
            <a:r>
              <a:t>注册/登录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8483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表单验证 → MD5加密 → Session保存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365760" cy="3657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0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Microsoft YaHei"/>
              </a:defRPr>
            </a:pPr>
            <a:r>
              <a:t>浏览商品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分页查询 + 分类筛选 + 关键词搜索 + 排序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7472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930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Microsoft YaHei"/>
              </a:defRPr>
            </a:pPr>
            <a:r>
              <a:t>加入购物车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307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库存校验 → 插入购物车表 → AJAX 刷新角标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97680"/>
            <a:ext cx="365760" cy="36576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159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Microsoft YaHei"/>
              </a:defRPr>
            </a:pPr>
            <a:r>
              <a:t>结算下单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537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库存二次校验 → 事务写入 → 扣库存 → 清空购物车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20640"/>
            <a:ext cx="365760" cy="36576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38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Microsoft YaHei"/>
              </a:defRPr>
            </a:pPr>
            <a:r>
              <a:t>查看订单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76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订单列表 → 订单详情（含商品快照）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🛠️ 管理端功能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Microsoft YaHei"/>
              </a:defRPr>
            </a:pPr>
            <a:r>
              <a:t>📦 商品管理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3317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436"/>
                </a:solidFill>
                <a:latin typeface="Microsoft YaHei"/>
              </a:defRPr>
            </a:pPr>
            <a:r>
              <a:t>  ✓ 商品列表（后台分页）</a:t>
            </a:r>
            <a:br/>
            <a:r>
              <a:t>  ✓ 新增商品（名称/价格/库存/分类）</a:t>
            </a:r>
            <a:br/>
            <a:r>
              <a:t>  ✓ 编辑商品信息</a:t>
            </a:r>
            <a:br/>
            <a:r>
              <a:t>  ✓ 删除商品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31920"/>
            <a:ext cx="5120640" cy="1828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Microsoft YaHei"/>
              </a:defRPr>
            </a:pPr>
            <a:r>
              <a:t>📋 订单管理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34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436"/>
                </a:solidFill>
                <a:latin typeface="Microsoft YaHei"/>
              </a:defRPr>
            </a:pPr>
            <a:r>
              <a:t>  ✓ 查看所有用户订单</a:t>
            </a:r>
            <a:br/>
            <a:r>
              <a:t>  ✓ 查看订单详情</a:t>
            </a:r>
            <a:br/>
            <a:r>
              <a:t>  ✓ 修改订单状态（待付款→已付款→已发货→已完成→已取消）</a:t>
            </a:r>
            <a:br/>
            <a:r>
              <a:t>  ✓ 关联显示下单用户信息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🔒 安全控制：EncodingFilter（全局编码）| LoginFilter（JSP页面拦截 + 登录后回跳）| AdminFilter（角色权限校验 + 越权拦截）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核心代码展示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KEY CODE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3566160" cy="5029200"/>
          </a:xfrm>
          <a:prstGeom prst="rect">
            <a:avLst/>
          </a:prstGeom>
          <a:solidFill>
            <a:srgbClr val="2C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🔐 下单事务控制 (OrderDao.createOrder)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E0"/>
                </a:solidFill>
                <a:latin typeface="Microsoft YaHei"/>
              </a:defRPr>
            </a:pPr>
            <a:r>
              <a:t>// 创建订单（事务：4步原子操作）</a:t>
            </a:r>
            <a:br/>
            <a:r>
              <a:t>conn.setAutoCommit(false);  // 开启事务</a:t>
            </a:r>
            <a:br/>
            <a:r>
              <a:t>// 1. 插入订单记录</a:t>
            </a:r>
            <a:br/>
            <a:r>
              <a:t>String orderNo = "ORD" + timestamp + uuid;</a:t>
            </a:r>
            <a:br/>
            <a:r>
              <a:t>INSERT INTO orders (...) VALUES (...);</a:t>
            </a:r>
            <a:br/>
            <a:r>
              <a:t>// 2. 插入订单明细（商品快照）</a:t>
            </a:r>
            <a:br/>
            <a:r>
              <a:t>INSERT INTO order_items (...) VALUES (...);</a:t>
            </a:r>
            <a:br/>
            <a:r>
              <a:t>// 3. 扣减库存（带库存校验）</a:t>
            </a:r>
            <a:br/>
            <a:r>
              <a:t>UPDATE products SET stock = stock - ?</a:t>
            </a:r>
            <a:br/>
            <a:r>
              <a:t>WHERE id = ? AND stock &gt;= ?;</a:t>
            </a:r>
            <a:br/>
            <a:r>
              <a:t>// 4. 清空用户购物车</a:t>
            </a:r>
            <a:br/>
            <a:r>
              <a:t>DELETE FROM cart_items WHERE user_id = ?;</a:t>
            </a:r>
            <a:br/>
            <a:r>
              <a:t>conn.commit();  // 提交事务</a:t>
            </a:r>
            <a:br/>
            <a:r>
              <a:t>// 任何一步失败 → conn.rollback() 全部回滚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26464"/>
            <a:ext cx="3566160" cy="5029200"/>
          </a:xfrm>
          <a:prstGeom prst="rect">
            <a:avLst/>
          </a:prstGeom>
          <a:solidFill>
            <a:srgbClr val="2C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5CE7"/>
                </a:solidFill>
                <a:latin typeface="Microsoft YaHei"/>
              </a:defRPr>
            </a:pPr>
            <a:r>
              <a:t>🔍 商品搜索 + 分页 (ProductDao.findAll)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E0"/>
                </a:solidFill>
                <a:latin typeface="Microsoft YaHei"/>
              </a:defRPr>
            </a:pPr>
            <a:r>
              <a:t>// 动态 SQL 构建</a:t>
            </a:r>
            <a:br/>
            <a:r>
              <a:t>StringBuilder sql = new StringBuilder(</a:t>
            </a:r>
            <a:br/>
            <a:r>
              <a:t>  "SELECT p.*, c.name FROM products p</a:t>
            </a:r>
            <a:br/>
            <a:r>
              <a:t>   LEFT JOIN categories c ON ... WHERE 1=1");</a:t>
            </a:r>
            <a:br/>
            <a:r>
              <a:t>// 可选筛选条件</a:t>
            </a:r>
            <a:br/>
            <a:r>
              <a:t>if (categoryId != null)</a:t>
            </a:r>
            <a:br/>
            <a:r>
              <a:t>  sql.append(" AND p.category_id = ?");</a:t>
            </a:r>
            <a:br/>
            <a:r>
              <a:t>if (keyword != null)</a:t>
            </a:r>
            <a:br/>
            <a:r>
              <a:t>  sql.append(" AND (p.name LIKE ?</a:t>
            </a:r>
            <a:br/>
            <a:r>
              <a:t>    OR p.description LIKE ?)");</a:t>
            </a:r>
            <a:br/>
            <a:r>
              <a:t>// 分页</a:t>
            </a:r>
            <a:br/>
            <a:r>
              <a:t>sql.append(" ORDER BY p.id DESC</a:t>
            </a:r>
            <a:br/>
            <a:r>
              <a:t>  LIMIT ?, ?");  // LIMIT offset, pageSize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26464"/>
            <a:ext cx="3566160" cy="5029200"/>
          </a:xfrm>
          <a:prstGeom prst="rect">
            <a:avLst/>
          </a:prstGeom>
          <a:solidFill>
            <a:srgbClr val="2C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17055"/>
                </a:solidFill>
                <a:latin typeface="Microsoft YaHei"/>
              </a:defRPr>
            </a:pPr>
            <a:r>
              <a:t>🛡️ 多层过滤器链 (Filter Chain)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E0"/>
                </a:solidFill>
                <a:latin typeface="Microsoft YaHei"/>
              </a:defRPr>
            </a:pPr>
            <a:r>
              <a:t>// EncodingFilter — 全局 UTF-8 编码</a:t>
            </a:r>
            <a:br/>
            <a:r>
              <a:t>request.setCharacterEncoding("UTF-8");</a:t>
            </a:r>
            <a:br/>
            <a:r>
              <a:t>response.setCharacterEncoding("UTF-8");</a:t>
            </a:r>
            <a:br/>
            <a:r>
              <a:t>chain.doFilter(req, resp);</a:t>
            </a:r>
            <a:br/>
            <a:br/>
            <a:r>
              <a:t>// LoginFilter — 登录拦截</a:t>
            </a:r>
            <a:br/>
            <a:r>
              <a:t>User user = session.getAttribute("user");</a:t>
            </a:r>
            <a:br/>
            <a:r>
              <a:t>if (user == null) {</a:t>
            </a:r>
            <a:br/>
            <a:r>
              <a:t>  session.setAttribute("redirectUrl", uri);</a:t>
            </a:r>
            <a:br/>
            <a:r>
              <a:t>  redirect("/login.jsp"); return;</a:t>
            </a:r>
            <a:br/>
            <a:r>
              <a:t>}</a:t>
            </a:r>
            <a:br/>
            <a:br/>
            <a:r>
              <a:t>// AdminFilter — 管理员权限</a:t>
            </a:r>
            <a:br/>
            <a:r>
              <a:t>if (!user.isAdmin()) {</a:t>
            </a:r>
            <a:br/>
            <a:r>
              <a:t>  alert("权限不足！"); return;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界面展示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FE6E9"/>
                </a:solidFill>
                <a:latin typeface="Microsoft YaHei"/>
              </a:defRPr>
            </a:pPr>
            <a:r>
              <a:t>USER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3291840" cy="1828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329184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984E3"/>
                </a:solidFill>
                <a:latin typeface="Microsoft YaHei"/>
              </a:defRPr>
            </a:pPr>
            <a:r>
              <a:t>🏠 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渐变横幅 Hero Banner</a:t>
            </a:r>
            <a:br/>
            <a:r>
              <a:t>热门推荐商品网格（4列）</a:t>
            </a:r>
            <a:br/>
            <a:r>
              <a:t>全局搜索框 + 购物车角标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645920"/>
            <a:ext cx="3291840" cy="1828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965960"/>
            <a:ext cx="329184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E7"/>
                </a:solidFill>
                <a:latin typeface="Microsoft YaHei"/>
              </a:defRPr>
            </a:pPr>
            <a:r>
              <a:t>🛍️ 商品列表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分类胶囊导航栏</a:t>
            </a:r>
            <a:br/>
            <a:r>
              <a:t>商品卡片网格布局</a:t>
            </a:r>
            <a:br/>
            <a:r>
              <a:t>分页组件</a:t>
            </a:r>
            <a:br/>
            <a:r>
              <a:t>关键词搜索高亮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645920"/>
            <a:ext cx="3291840" cy="1828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1080" y="168249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1965960"/>
            <a:ext cx="329184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📦 商品详情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左右双栏布局</a:t>
            </a:r>
            <a:br/>
            <a:r>
              <a:t>数量加减控件</a:t>
            </a:r>
            <a:br/>
            <a:r>
              <a:t>加入购物车按钮</a:t>
            </a:r>
            <a:br/>
            <a:r>
              <a:t>库存状态实时显示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233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023360"/>
            <a:ext cx="3566160" cy="54864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4297680"/>
            <a:ext cx="3291840" cy="1828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96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617720"/>
            <a:ext cx="329184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17055"/>
                </a:solidFill>
                <a:latin typeface="Microsoft YaHei"/>
              </a:defRPr>
            </a:pPr>
            <a:r>
              <a:t>🛒 购物车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29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表格式商品列表</a:t>
            </a:r>
            <a:br/>
            <a:r>
              <a:t>数量修改/删除操作</a:t>
            </a:r>
            <a:br/>
            <a:r>
              <a:t>总价实时计算</a:t>
            </a:r>
            <a:br/>
            <a:r>
              <a:t>结算下单按钮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0233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023360"/>
            <a:ext cx="356616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4297680"/>
            <a:ext cx="3291840" cy="1828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2628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6344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80060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34840" y="4617720"/>
            <a:ext cx="329184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Microsoft YaHei"/>
              </a:defRPr>
            </a:pPr>
            <a:r>
              <a:t>📋 订单管理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029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订单列表 + 状态标签</a:t>
            </a:r>
            <a:br/>
            <a:r>
              <a:t>订单详情（商品快照）</a:t>
            </a:r>
            <a:br/>
            <a:r>
              <a:t>状态流转时间线</a:t>
            </a:r>
            <a:br/>
            <a:r>
              <a:t>收货地址信息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40233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38160" y="4023360"/>
            <a:ext cx="3566160" cy="54864"/>
          </a:xfrm>
          <a:prstGeom prst="rect">
            <a:avLst/>
          </a:prstGeom>
          <a:solidFill>
            <a:srgbClr val="FD7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20" y="4297680"/>
            <a:ext cx="3291840" cy="1828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36676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50392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641080" y="4334256"/>
            <a:ext cx="73152" cy="73152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4617720"/>
            <a:ext cx="329184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D7989"/>
                </a:solidFill>
                <a:latin typeface="Microsoft YaHei"/>
              </a:defRPr>
            </a:pPr>
            <a:r>
              <a:t>⚙️ 管理后台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029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管理仪表盘导航</a:t>
            </a:r>
            <a:br/>
            <a:r>
              <a:t>商品 CRUD 表单</a:t>
            </a:r>
            <a:br/>
            <a:r>
              <a:t>订单状态修改</a:t>
            </a:r>
            <a:br/>
            <a:r>
              <a:t>全部订单视图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🎨 前端特色：响应式布局（适配PC/平板/手机）| CSS Grid 商品网格 | 渐变色彩设计 | 悬停动效 | 统一组件风格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2560320"/>
          </a:xfrm>
          <a:prstGeom prst="rect">
            <a:avLst/>
          </a:prstGeom>
          <a:solidFill>
            <a:srgbClr val="2C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✅ 项目收获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✓ 掌握了 Servlet + JSP Web 开发完整流程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✓ 深入理解 MVC 分层架构设计思想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✓ 熟练运用 JDBC 进行数据库操作与事务控制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✓ 学会 Filter 过滤器实现权限校验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✓ 掌握了前端响应式布局与 CSS 设计技巧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✓ 积累了 Maven 构建与 Tomcat 部署经验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2560320"/>
          </a:xfrm>
          <a:prstGeom prst="rect">
            <a:avLst/>
          </a:prstGeom>
          <a:solidFill>
            <a:srgbClr val="2C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7055"/>
                </a:solidFill>
                <a:latin typeface="Microsoft YaHei"/>
              </a:defRPr>
            </a:pPr>
            <a:r>
              <a:t>⚠️ 现有不足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✗ 未实现图片上传功能（使用占位图）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✗ 缺少真正的支付接口集成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✗ 无用户个人信息管理页面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✗ 未使用连接池（每次新建连接）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DD6E0"/>
                </a:solidFill>
                <a:latin typeface="Microsoft YaHei"/>
              </a:defRPr>
            </a:pPr>
            <a:r>
              <a:t>✗ 缺少单元测试覆盖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10972800" cy="2011680"/>
          </a:xfrm>
          <a:prstGeom prst="rect">
            <a:avLst/>
          </a:prstGeom>
          <a:solidFill>
            <a:srgbClr val="2C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84E3"/>
                </a:solidFill>
                <a:latin typeface="Microsoft YaHei"/>
              </a:defRPr>
            </a:pPr>
            <a:r>
              <a:t>🚀 未来改进方向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46320"/>
            <a:ext cx="1371600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框架升级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64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Microsoft YaHei"/>
              </a:defRPr>
            </a:pPr>
            <a:r>
              <a:t>迁移至 Spring Boot + MyBatis / Spring Data JPA，提升开发效率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66360"/>
            <a:ext cx="1371600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前端重构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1846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Microsoft YaHei"/>
              </a:defRPr>
            </a:pPr>
            <a:r>
              <a:t>采用 Vue.js / React 前后端分离架构，提升用户体验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486400"/>
            <a:ext cx="1371600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功能增强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5046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Microsoft YaHei"/>
              </a:defRPr>
            </a:pPr>
            <a:r>
              <a:t>添加图片上传、在线支付（支付宝/微信）、评论评分、秒杀活动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806440"/>
            <a:ext cx="1371600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8247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Microsoft YaHei"/>
              </a:defRPr>
            </a:pPr>
            <a:r>
              <a:t>引入 Redis 缓存、Druid 连接池、数据库索引优化、CDN 加速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9/8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36E72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33295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2BEC3"/>
                </a:solidFill>
                <a:latin typeface="Microsoft YaHei"/>
              </a:defRPr>
            </a:pPr>
            <a:r>
              <a:t>简易购物网站 ShoppingWeb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Java 8 + Servlet 4.0 + JSP 2.3 + MySQL 8.0 + Maven + Tomcat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984E3"/>
                </a:solidFill>
                <a:latin typeface="Microsoft YaHei"/>
              </a:defRPr>
            </a:pPr>
            <a:r>
              <a:t>欢迎提问 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